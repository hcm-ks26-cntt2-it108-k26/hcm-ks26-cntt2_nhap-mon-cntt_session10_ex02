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6B00"/>
                </a:solidFill>
                <a:latin typeface="Arial"/>
              </a:defRPr>
            </a:pPr>
            <a:r>
              <a:t>PTIT-Learning - NỀN TẢNG HỌC TRỰC TUYẾN DÀNH CHO MỌI NGƯỜI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LỢI THẾ NỔI BẬT CỦA NỀN TẢNG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103120"/>
            <a:ext cx="2560320" cy="3657600"/>
          </a:xfrm>
          <a:prstGeom prst="roundRect">
            <a:avLst/>
          </a:prstGeom>
          <a:solidFill>
            <a:srgbClr val="172A45"/>
          </a:solidFill>
          <a:ln w="19050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6B00"/>
                </a:solidFill>
              </a:defRPr>
            </a:pPr>
            <a:r>
              <a:t>01</a:t>
            </a:r>
            <a:br/>
            <a:br/>
            <a:r>
              <a:t>Lớp học ảo trực tuyến</a:t>
            </a:r>
          </a:p>
          <a:p>
            <a:br/>
            <a:pPr algn="ctr">
              <a:defRPr sz="1300">
                <a:solidFill>
                  <a:srgbClr val="FFFFFF"/>
                </a:solidFill>
              </a:defRPr>
            </a:pPr>
            <a:r>
              <a:t>Tương tác thời gian thực, môi trường học tập sống động và trực quan.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91840" y="2103120"/>
            <a:ext cx="2560320" cy="3657600"/>
          </a:xfrm>
          <a:prstGeom prst="roundRect">
            <a:avLst/>
          </a:prstGeom>
          <a:solidFill>
            <a:srgbClr val="172A45"/>
          </a:solidFill>
          <a:ln w="19050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6B00"/>
                </a:solidFill>
              </a:defRPr>
            </a:pPr>
            <a:r>
              <a:t>02</a:t>
            </a:r>
            <a:br/>
            <a:br/>
            <a:r>
              <a:t>Học mọi lúc, mọi nơi</a:t>
            </a:r>
          </a:p>
          <a:p>
            <a:br/>
            <a:pPr algn="ctr">
              <a:defRPr sz="1300">
                <a:solidFill>
                  <a:srgbClr val="FFFFFF"/>
                </a:solidFill>
              </a:defRPr>
            </a:pPr>
            <a:r>
              <a:t>Linh hoạt thời gian, tiếp cận kho tàng tri thức mọi lúc trên mọi thiết bị.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2103120"/>
            <a:ext cx="2560320" cy="3657600"/>
          </a:xfrm>
          <a:prstGeom prst="roundRect">
            <a:avLst/>
          </a:prstGeom>
          <a:solidFill>
            <a:srgbClr val="172A45"/>
          </a:solidFill>
          <a:ln w="19050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6B00"/>
                </a:solidFill>
              </a:defRPr>
            </a:pPr>
            <a:r>
              <a:t>03</a:t>
            </a:r>
            <a:br/>
            <a:br/>
            <a:r>
              <a:t>Theo dõi tiến độ &amp; báo cáo</a:t>
            </a:r>
          </a:p>
          <a:p>
            <a:br/>
            <a:pPr algn="ctr">
              <a:defRPr sz="1300">
                <a:solidFill>
                  <a:srgbClr val="FFFFFF"/>
                </a:solidFill>
              </a:defRPr>
            </a:pPr>
            <a:r>
              <a:t>Hệ thống tự động đánh giá, báo cáo tiến trình học tập chi tiết.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0" y="2103120"/>
            <a:ext cx="2560320" cy="3657600"/>
          </a:xfrm>
          <a:prstGeom prst="roundRect">
            <a:avLst/>
          </a:prstGeom>
          <a:solidFill>
            <a:srgbClr val="172A45"/>
          </a:solidFill>
          <a:ln w="19050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6B00"/>
                </a:solidFill>
              </a:defRPr>
            </a:pPr>
            <a:r>
              <a:t>04</a:t>
            </a:r>
            <a:br/>
            <a:br/>
            <a:r>
              <a:t>Bảo mật &amp; ổn định cao</a:t>
            </a:r>
          </a:p>
          <a:p>
            <a:br/>
            <a:pPr algn="ctr">
              <a:defRPr sz="1300">
                <a:solidFill>
                  <a:srgbClr val="FFFFFF"/>
                </a:solidFill>
              </a:defRPr>
            </a:pPr>
            <a:r>
              <a:t>Hạ tầng công nghệ tiên tiến, bảo vệ dữ liệu và kết nối thông suốt.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B4BED2"/>
                </a:solidFill>
                <a:latin typeface="Arial"/>
              </a:defRPr>
            </a:pPr>
            <a:r>
              <a:t>PTIT-Learning – Đồng hành cùng bạn trên hành trình tri thức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6B00"/>
                </a:solidFill>
                <a:latin typeface="Arial"/>
              </a:defRPr>
            </a:pPr>
            <a:r>
              <a:t>TĂNG TRƯỞNG HỌC VIÊN (Đơn vị: Người)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5068956"/>
            <a:ext cx="1097280" cy="417443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4703196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1,200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557784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B4BED2"/>
                </a:solidFill>
              </a:defRPr>
            </a:pPr>
            <a:r>
              <a:t>T12/2023</a:t>
            </a:r>
          </a:p>
        </p:txBody>
      </p:sp>
      <p:sp>
        <p:nvSpPr>
          <p:cNvPr id="6" name="Rectangle 5"/>
          <p:cNvSpPr/>
          <p:nvPr/>
        </p:nvSpPr>
        <p:spPr>
          <a:xfrm>
            <a:off x="3017520" y="4686300"/>
            <a:ext cx="1097280" cy="8001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34640" y="432054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2,300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557784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B4BED2"/>
                </a:solidFill>
              </a:defRPr>
            </a:pPr>
            <a:r>
              <a:t>T01/2024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4164495"/>
            <a:ext cx="1097280" cy="1321904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3798735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3,800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557784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B4BED2"/>
                </a:solidFill>
              </a:defRPr>
            </a:pPr>
            <a:r>
              <a:t>T02/2024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3607904"/>
            <a:ext cx="1097280" cy="1878495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3242144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5,400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557784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B4BED2"/>
                </a:solidFill>
              </a:defRPr>
            </a:pPr>
            <a:r>
              <a:t>T03/2024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55280" y="3016526"/>
            <a:ext cx="1097280" cy="2469873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0" y="2650766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7,100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557784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B4BED2"/>
                </a:solidFill>
              </a:defRPr>
            </a:pPr>
            <a:r>
              <a:t>T04/2024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601200" y="2286000"/>
            <a:ext cx="1097280" cy="32004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0" y="192024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9,200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557784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B4BED2"/>
                </a:solidFill>
              </a:defRPr>
            </a:pPr>
            <a:r>
              <a:t>T05/2024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0080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B4BED2"/>
                </a:solidFill>
                <a:latin typeface="Arial"/>
              </a:defRPr>
            </a:pPr>
            <a:r>
              <a:t>PTIT-Learning – Đồng hành cùng bạn trên hành trình tri thức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6B00"/>
                </a:solidFill>
                <a:latin typeface="Arial"/>
              </a:defRPr>
            </a:pPr>
            <a:r>
              <a:t>CƠ CẤU NGUỒN ĐĂNG KÝ HỌC VIÊN</a:t>
            </a:r>
          </a:p>
        </p:txBody>
      </p:sp>
      <p:sp>
        <p:nvSpPr>
          <p:cNvPr id="3" name="Oval 2"/>
          <p:cNvSpPr/>
          <p:nvPr/>
        </p:nvSpPr>
        <p:spPr>
          <a:xfrm>
            <a:off x="1371600" y="1920240"/>
            <a:ext cx="457200" cy="457200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1828800"/>
            <a:ext cx="4114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Website: 36%</a:t>
            </a:r>
          </a:p>
          <a:p>
            <a:pPr>
              <a:defRPr sz="1300">
                <a:solidFill>
                  <a:srgbClr val="B4BED2"/>
                </a:solidFill>
              </a:defRPr>
            </a:pPr>
            <a:r>
              <a:t>Kênh tiếp cận chiến lược đóng vai trò quan trọng trong việc thu hút học viên mới.</a:t>
            </a:r>
          </a:p>
        </p:txBody>
      </p:sp>
      <p:sp>
        <p:nvSpPr>
          <p:cNvPr id="5" name="Oval 4"/>
          <p:cNvSpPr/>
          <p:nvPr/>
        </p:nvSpPr>
        <p:spPr>
          <a:xfrm>
            <a:off x="6400800" y="1920240"/>
            <a:ext cx="457200" cy="457200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0" y="1828800"/>
            <a:ext cx="4114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Facebook Ads: 27%</a:t>
            </a:r>
          </a:p>
          <a:p>
            <a:pPr>
              <a:defRPr sz="1300">
                <a:solidFill>
                  <a:srgbClr val="B4BED2"/>
                </a:solidFill>
              </a:defRPr>
            </a:pPr>
            <a:r>
              <a:t>Kênh tiếp cận chiến lược đóng vai trò quan trọng trong việc thu hút học viên mới.</a:t>
            </a:r>
          </a:p>
        </p:txBody>
      </p:sp>
      <p:sp>
        <p:nvSpPr>
          <p:cNvPr id="7" name="Oval 6"/>
          <p:cNvSpPr/>
          <p:nvPr/>
        </p:nvSpPr>
        <p:spPr>
          <a:xfrm>
            <a:off x="1371600" y="3931920"/>
            <a:ext cx="457200" cy="457200"/>
          </a:xfrm>
          <a:prstGeom prst="ellipse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11680" y="3840480"/>
            <a:ext cx="4114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Google Form: 21%</a:t>
            </a:r>
          </a:p>
          <a:p>
            <a:pPr>
              <a:defRPr sz="1300">
                <a:solidFill>
                  <a:srgbClr val="B4BED2"/>
                </a:solidFill>
              </a:defRPr>
            </a:pPr>
            <a:r>
              <a:t>Kênh tiếp cận chiến lược đóng vai trò quan trọng trong việc thu hút học viên mới.</a:t>
            </a:r>
          </a:p>
        </p:txBody>
      </p:sp>
      <p:sp>
        <p:nvSpPr>
          <p:cNvPr id="9" name="Oval 8"/>
          <p:cNvSpPr/>
          <p:nvPr/>
        </p:nvSpPr>
        <p:spPr>
          <a:xfrm>
            <a:off x="6400800" y="3931920"/>
            <a:ext cx="457200" cy="457200"/>
          </a:xfrm>
          <a:prstGeom prst="ellipse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0" y="3840480"/>
            <a:ext cx="4114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Đại lý: 16%</a:t>
            </a:r>
          </a:p>
          <a:p>
            <a:pPr>
              <a:defRPr sz="1300">
                <a:solidFill>
                  <a:srgbClr val="B4BED2"/>
                </a:solidFill>
              </a:defRPr>
            </a:pPr>
            <a:r>
              <a:t>Kênh tiếp cận chiến lược đóng vai trò quan trọng trong việc thu hút học viên mới.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0080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B4BED2"/>
                </a:solidFill>
                <a:latin typeface="Arial"/>
              </a:defRPr>
            </a:pPr>
            <a:r>
              <a:t>PTIT-Learning – Đồng hành cùng bạn trên hành trình tri thức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6B00"/>
                </a:solidFill>
                <a:latin typeface="Arial"/>
              </a:defRPr>
            </a:pPr>
            <a:r>
              <a:t>TỔNG KẾT THÁNG 05/2024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4846320" cy="1645920"/>
          </a:xfrm>
          <a:prstGeom prst="roundRect">
            <a:avLst/>
          </a:prstGeom>
          <a:solidFill>
            <a:srgbClr val="172A45"/>
          </a:solidFill>
          <a:ln w="12700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B4BED2"/>
                </a:solidFill>
              </a:defRPr>
            </a:pPr>
            <a:r>
              <a:t>HỌC VIÊN MỚI</a:t>
            </a:r>
          </a:p>
          <a:p>
            <a:pPr algn="ctr">
              <a:defRPr sz="3200" b="1">
                <a:solidFill>
                  <a:srgbClr val="FF6B00"/>
                </a:solidFill>
              </a:defRPr>
            </a:pPr>
            <a:r>
              <a:t>9,200</a:t>
            </a:r>
          </a:p>
          <a:p>
            <a:pPr algn="ctr">
              <a:defRPr sz="1100">
                <a:solidFill>
                  <a:srgbClr val="64C8FF"/>
                </a:solidFill>
              </a:defRPr>
            </a:pPr>
            <a:r>
              <a:t>+20.4% so với T04/2024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828800"/>
            <a:ext cx="4846320" cy="1645920"/>
          </a:xfrm>
          <a:prstGeom prst="roundRect">
            <a:avLst/>
          </a:prstGeom>
          <a:solidFill>
            <a:srgbClr val="172A45"/>
          </a:solidFill>
          <a:ln w="12700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B4BED2"/>
                </a:solidFill>
              </a:defRPr>
            </a:pPr>
            <a:r>
              <a:t>KHÓA HỌC ĐANG MỞ</a:t>
            </a:r>
          </a:p>
          <a:p>
            <a:pPr algn="ctr">
              <a:defRPr sz="3200" b="1">
                <a:solidFill>
                  <a:srgbClr val="FF6B00"/>
                </a:solidFill>
              </a:defRPr>
            </a:pPr>
            <a:r>
              <a:t>66</a:t>
            </a:r>
          </a:p>
          <a:p>
            <a:pPr algn="ctr">
              <a:defRPr sz="1100">
                <a:solidFill>
                  <a:srgbClr val="64C8FF"/>
                </a:solidFill>
              </a:defRPr>
            </a:pPr>
            <a:r>
              <a:t>Ổn định &amp; mở rộng không ngừng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931920"/>
            <a:ext cx="4846320" cy="1645920"/>
          </a:xfrm>
          <a:prstGeom prst="roundRect">
            <a:avLst/>
          </a:prstGeom>
          <a:solidFill>
            <a:srgbClr val="172A45"/>
          </a:solidFill>
          <a:ln w="12700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B4BED2"/>
                </a:solidFill>
              </a:defRPr>
            </a:pPr>
            <a:r>
              <a:t>DOANH THU</a:t>
            </a:r>
          </a:p>
          <a:p>
            <a:pPr algn="ctr">
              <a:defRPr sz="3200" b="1">
                <a:solidFill>
                  <a:srgbClr val="FF6B00"/>
                </a:solidFill>
              </a:defRPr>
            </a:pPr>
            <a:r>
              <a:t>1.28 TỶ</a:t>
            </a:r>
          </a:p>
          <a:p>
            <a:pPr algn="ctr">
              <a:defRPr sz="1100">
                <a:solidFill>
                  <a:srgbClr val="64C8FF"/>
                </a:solidFill>
              </a:defRPr>
            </a:pPr>
            <a:r>
              <a:t>+24.8% so với T04/2024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3931920"/>
            <a:ext cx="4846320" cy="1645920"/>
          </a:xfrm>
          <a:prstGeom prst="roundRect">
            <a:avLst/>
          </a:prstGeom>
          <a:solidFill>
            <a:srgbClr val="172A45"/>
          </a:solidFill>
          <a:ln w="12700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B4BED2"/>
                </a:solidFill>
              </a:defRPr>
            </a:pPr>
            <a:r>
              <a:t>TỶ SUẤT LỢI NHUẬN</a:t>
            </a:r>
          </a:p>
          <a:p>
            <a:pPr algn="ctr">
              <a:defRPr sz="3200" b="1">
                <a:solidFill>
                  <a:srgbClr val="FF6B00"/>
                </a:solidFill>
              </a:defRPr>
            </a:pPr>
            <a:r>
              <a:t>28%</a:t>
            </a:r>
          </a:p>
          <a:p>
            <a:pPr algn="ctr">
              <a:defRPr sz="1100">
                <a:solidFill>
                  <a:srgbClr val="64C8FF"/>
                </a:solidFill>
              </a:defRPr>
            </a:pPr>
            <a:r>
              <a:t>Hiệu quả vận hành tối ưu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B4BED2"/>
                </a:solidFill>
                <a:latin typeface="Arial"/>
              </a:defRPr>
            </a:pPr>
            <a:r>
              <a:t>PTIT-Learning – Đồng hành cùng bạn trên hành trình tri thức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